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 Id="rId3"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t>UiPath AgentHack 2026  •  Track 3 (Test Cloud)</a:t>
            </a:r>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t>Gauntlet</a:t>
            </a:r>
          </a:p>
          <a:p>
            <a:r>
              <a:t>Adversarial Test Cloud.</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2200" b="1">
                <a:solidFill>
                  <a:srgbClr val="172125"/>
                </a:solidFill>
              </a:rPr>
              <a:t>Tim Dries</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1400">
                <a:solidFill>
                  <a:srgbClr val="172125"/>
                </a:solidFill>
              </a:rPr>
              <a:t>Solution Architect @ Biztory</a:t>
            </a:r>
          </a:p>
          <a:p>
            <a:r>
              <a:rPr sz="1400">
                <a:solidFill>
                  <a:srgbClr val="172125"/>
                </a:solidFill>
              </a:rPr>
              <a:t>tim.dries@biztory.be</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t>Biztory  •  Gauntlet</a:t>
            </a:r>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t>The gap between Agent Evaluations and real adversaries</a:t>
            </a: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r>
              <a:t>UiPath Agent Evaluations test what you wrote.</a:t>
            </a:r>
          </a:p>
          <a:p>
            <a:r>
              <a:t>They don't test what a real attacker will invent.</a:t>
            </a:r>
          </a:p>
          <a:p/>
          <a:p>
            <a:r>
              <a:t>Agent safety today is vibes-based: static rubrics, no continuous adversarial loop, no compliance-ready coverage matrix.</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r>
              <a:t>A Red Coach (Claude Opus) invents new attacks against your agents.</a:t>
            </a:r>
          </a:p>
          <a:p>
            <a:r>
              <a:t>Winning attacks auto-populate UiPath Test Manager as regression tests.</a:t>
            </a:r>
          </a:p>
          <a:p>
            <a:r>
              <a:t>Failing fights open Action Center tasks with concrete fix recommendations.</a:t>
            </a:r>
          </a:p>
          <a:p/>
          <a:p>
            <a:r>
              <a:t>Every fight double-tagged: OWASP LLM Top-10 + MITRE ATLAS.</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t>Benefits, impact, and UiPath components used</a:t>
            </a:r>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r>
                        <a:rPr sz="1400"/>
                        <a:t>End user</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rPr sz="1200"/>
                        <a:t>AI engineers and QA leads shipping UiPath agents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r>
                        <a:rPr sz="1400"/>
                        <a:t>Department</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rPr sz="1200"/>
                        <a:t>AI / Automation CoE; Security &amp; Compliance</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r>
                        <a:rPr sz="1400"/>
                        <a:t>Industries</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rPr sz="1200"/>
                        <a:t>Banking, insurance, healthcare, regulated SaaS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r>
                        <a:rPr sz="1400"/>
                        <a:t>UiPath products</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rPr sz="1100"/>
                        <a:t>Test Cloud + Test Manager, Maestro (Case + Flow), Agent Builder, Coded Agents, Coded Apps, Action Center, Automation Cloud, uip CLI</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r>
                        <a:rPr sz="1400"/>
                        <a:t>Other tech</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r>
                        <a:rPr sz="1100"/>
                        <a:t>Claude Opus 4.7, LangGraph, React 19 + Vite, @uipath/uipath-typescript SDK, OWASP LLM Top-10, MITRE ATLAS, built with Claude Code</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2400" b="1">
                <a:solidFill>
                  <a:srgbClr val="172125"/>
                </a:solidFill>
              </a:rPr>
              <a:t>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1600">
                <a:solidFill>
                  <a:srgbClr val="172125"/>
                </a:solidFill>
              </a:rPr>
              <a:t>75+ adversarial fights run.</a:t>
            </a:r>
          </a:p>
          <a:p>
            <a:r>
              <a:rPr sz="1600">
                <a:solidFill>
                  <a:srgbClr val="172125"/>
                </a:solidFill>
              </a:rPr>
              <a:t>9 critical findings auto-diagnosed.</a:t>
            </a:r>
          </a:p>
          <a:p>
            <a:r>
              <a:rPr sz="1600">
                <a:solidFill>
                  <a:srgbClr val="172125"/>
                </a:solidFill>
              </a:rPr>
              <a:t>Worst-case win rate of 22% exposed against the naive blue posture.</a:t>
            </a:r>
          </a:p>
          <a:p>
            <a:r>
              <a:rPr sz="1600">
                <a:solidFill>
                  <a:srgbClr val="172125"/>
                </a:solidFill>
              </a:rPr>
              <a:t>Coach invents attack personas the team never seeded.</a:t>
            </a:r>
          </a:p>
          <a:p>
            <a:r>
              <a:rPr sz="1600">
                <a:solidFill>
                  <a:srgbClr val="172125"/>
                </a:solidFill>
              </a:rPr>
              <a:t>Test Manager regression suite that grows itself.</a:t>
            </a:r>
          </a:p>
          <a:p>
            <a:r>
              <a:rPr sz="1600">
                <a:solidFill>
                  <a:srgbClr val="172125"/>
                </a:solidFill>
              </a:rPr>
              <a:t>Auditor-ready OWASP / MITRE coverage matrix.</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2400" b="1">
                <a:solidFill>
                  <a:srgbClr val="172125"/>
                </a:solidFill>
              </a:rPr>
              <a:t>Components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t>How it works</a:t>
            </a:r>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65760" y="1554480"/>
            <a:ext cx="5120640" cy="4754880"/>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1500">
                <a:solidFill>
                  <a:srgbClr val="172125"/>
                </a:solidFill>
              </a:rPr>
              <a:t>FightArena is a long-lived Maestro Case.</a:t>
            </a:r>
          </a:p>
          <a:p/>
          <a:p>
            <a:r>
              <a:rPr sz="1500">
                <a:solidFill>
                  <a:srgbClr val="172125"/>
                </a:solidFill>
              </a:rPr>
              <a:t>Each round = one RoundOrchestrator (Maestro Flow):</a:t>
            </a:r>
          </a:p>
          <a:p>
            <a:r>
              <a:rPr sz="1500">
                <a:solidFill>
                  <a:srgbClr val="172125"/>
                </a:solidFill>
              </a:rPr>
              <a:t>Red attack → Blue response → Referee verdict → score.</a:t>
            </a:r>
          </a:p>
          <a:p/>
          <a:p>
            <a:r>
              <a:rPr sz="1500">
                <a:solidFill>
                  <a:srgbClr val="172125"/>
                </a:solidFill>
              </a:rPr>
              <a:t>Coach self-play loop:</a:t>
            </a:r>
          </a:p>
          <a:p>
            <a:r>
              <a:rPr sz="1500">
                <a:solidFill>
                  <a:srgbClr val="172125"/>
                </a:solidFill>
              </a:rPr>
              <a:t>pick the highest expected-reward persona,</a:t>
            </a:r>
          </a:p>
          <a:p>
            <a:r>
              <a:rPr sz="1500">
                <a:solidFill>
                  <a:srgbClr val="172125"/>
                </a:solidFill>
              </a:rPr>
              <a:t>or ask Opus to invent a new one.</a:t>
            </a:r>
          </a:p>
          <a:p/>
          <a:p>
            <a:r>
              <a:rPr sz="1500">
                <a:solidFill>
                  <a:srgbClr val="172125"/>
                </a:solidFill>
              </a:rPr>
              <a:t>On Red win → save to Test Manager.</a:t>
            </a:r>
          </a:p>
          <a:p>
            <a:r>
              <a:rPr sz="1500">
                <a:solidFill>
                  <a:srgbClr val="172125"/>
                </a:solidFill>
              </a:rPr>
              <a:t>On Blue loss → Fix Recommender → Action Center.</a:t>
            </a:r>
          </a:p>
        </p:txBody>
      </p:sp>
      <p:pic>
        <p:nvPicPr>
          <p:cNvPr id="6" name="Picture 5" descr="02-coach-lab.png"/>
          <p:cNvPicPr>
            <a:picLocks noChangeAspect="1"/>
          </p:cNvPicPr>
          <p:nvPr/>
        </p:nvPicPr>
        <p:blipFill>
          <a:blip r:embed="rId2"/>
          <a:stretch>
            <a:fillRect/>
          </a:stretch>
        </p:blipFill>
        <p:spPr>
          <a:xfrm>
            <a:off x="6052820" y="1508760"/>
            <a:ext cx="5852160" cy="4023360"/>
          </a:xfrm>
          <a:prstGeom prst="rect">
            <a:avLst/>
          </a:prstGeom>
        </p:spPr>
      </p:pic>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t>Coverage, audit, and the live demo</a:t>
            </a:r>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65760" y="1554480"/>
            <a:ext cx="5120640" cy="4754880"/>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1500">
                <a:solidFill>
                  <a:srgbClr val="172125"/>
                </a:solidFill>
              </a:rPr>
              <a:t>Every fight tagged against OWASP LLM Top-10 + MITRE ATLAS.</a:t>
            </a:r>
          </a:p>
          <a:p>
            <a:r>
              <a:rPr sz="1500">
                <a:solidFill>
                  <a:srgbClr val="172125"/>
                </a:solidFill>
              </a:rPr>
              <a:t>Audit renders that as a live coverage matrix.</a:t>
            </a:r>
          </a:p>
          <a:p/>
          <a:p>
            <a:r>
              <a:rPr sz="1500">
                <a:solidFill>
                  <a:srgbClr val="172125"/>
                </a:solidFill>
              </a:rPr>
              <a:t>Coach Lab streams a real Opus call from the browser using the user's own session key. The persona is authored during the demo, not pre-recorded.</a:t>
            </a:r>
          </a:p>
          <a:p/>
          <a:p>
            <a:r>
              <a:rPr sz="1500">
                <a:solidFill>
                  <a:srgbClr val="172125"/>
                </a:solidFill>
              </a:rPr>
              <a:t>Built end-to-end with Claude Code.</a:t>
            </a:r>
          </a:p>
          <a:p/>
          <a:p>
            <a:r>
              <a:rPr sz="1500">
                <a:solidFill>
                  <a:srgbClr val="172125"/>
                </a:solidFill>
              </a:rPr>
              <a:t>▶  youtu.be/1q9W5SC_fxA</a:t>
            </a:r>
          </a:p>
          <a:p>
            <a:r>
              <a:rPr sz="1500">
                <a:solidFill>
                  <a:srgbClr val="172125"/>
                </a:solidFill>
              </a:rPr>
              <a:t>📦  github.com/tdries/uipath-hackathon-gauntlet</a:t>
            </a:r>
          </a:p>
        </p:txBody>
      </p:sp>
      <p:pic>
        <p:nvPicPr>
          <p:cNvPr id="7" name="Picture 6" descr="06-audit.png"/>
          <p:cNvPicPr>
            <a:picLocks noChangeAspect="1"/>
          </p:cNvPicPr>
          <p:nvPr/>
        </p:nvPicPr>
        <p:blipFill>
          <a:blip r:embed="rId2"/>
          <a:stretch>
            <a:fillRect/>
          </a:stretch>
        </p:blipFill>
        <p:spPr>
          <a:xfrm>
            <a:off x="6052820" y="1508760"/>
            <a:ext cx="5852160" cy="4023360"/>
          </a:xfrm>
          <a:prstGeom prst="rect">
            <a:avLst/>
          </a:prstGeom>
        </p:spPr>
      </p:pic>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t>Go safe, or go home.</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